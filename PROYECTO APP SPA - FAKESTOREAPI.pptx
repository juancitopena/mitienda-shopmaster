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60D74-968E-7BA1-576E-750DD752D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E5659A-BAD0-D0C9-0F80-447FB9ED0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92B02A-AE5C-07BF-F7A7-95490769C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CFD0-986E-4839-9FB3-0314D15EF8AB}" type="datetimeFigureOut">
              <a:rPr lang="es-DO" smtClean="0"/>
              <a:t>5/7/2026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2D7027-E9B7-3305-F529-429595146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838423-306B-18F2-2194-F079600F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B9B46-3CC3-4F85-8133-32CE87C950D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754953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AB623-DCCB-5291-7BB1-2150ECC75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8A1DDC-6263-C03D-AA8D-758DC9C03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CB54D9-25CD-EB28-613D-0CA94E5CB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CFD0-986E-4839-9FB3-0314D15EF8AB}" type="datetimeFigureOut">
              <a:rPr lang="es-DO" smtClean="0"/>
              <a:t>5/7/2026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0321F2-E950-218C-2DC0-D6D587ED0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9342-A349-080C-B0F4-AFD515856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B9B46-3CC3-4F85-8133-32CE87C950D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650137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FB4C8-AEEB-F6A3-FD53-8D50F818C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2A58BD-44D2-1F4A-D94B-B843DBB19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32E127-CF33-F2F7-1F51-6EC72B658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CFD0-986E-4839-9FB3-0314D15EF8AB}" type="datetimeFigureOut">
              <a:rPr lang="es-DO" smtClean="0"/>
              <a:t>5/7/2026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D52377-A692-8331-9AF8-64B3FD454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C08C33-0475-347F-D941-133CE9BD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B9B46-3CC3-4F85-8133-32CE87C950D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9937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E1BEF-46B1-CEBF-EECF-838B1B80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FB922D-5A76-BA09-7E5B-907666926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672BED-0D1E-0697-3C8D-853FD6109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AFE6CE-374B-5269-ED80-4200850C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CFD0-986E-4839-9FB3-0314D15EF8AB}" type="datetimeFigureOut">
              <a:rPr lang="es-DO" smtClean="0"/>
              <a:t>5/7/2026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7A62BF-ADBD-F6BB-A07F-FFDF5CD20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4EF4A8-FD6A-2850-0E16-0A1933DA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B9B46-3CC3-4F85-8133-32CE87C950D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81564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661D5-709D-06E0-53F3-13B6A8351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380B33-6E90-F34A-60C1-12A1EAFB3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0B33F2-0425-1C33-1B9C-9CB5E3DE6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397017-6F82-41CC-8BE4-CE3504E37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6A21901-A1C8-2BB4-9F87-377CC36A6B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648B654-2069-7853-C852-AF04BC140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CFD0-986E-4839-9FB3-0314D15EF8AB}" type="datetimeFigureOut">
              <a:rPr lang="es-DO" smtClean="0"/>
              <a:t>5/7/2026</a:t>
            </a:fld>
            <a:endParaRPr lang="es-D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946E97B-65B1-DD0D-D839-762E56CDA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BB3CA42-C8A1-F43C-4F38-E28ED353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B9B46-3CC3-4F85-8133-32CE87C950D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54488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B4C36-EE6F-2A21-2DF3-A79E3D2E0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188A717-C11D-5DA5-92B8-8A7FA2241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CFD0-986E-4839-9FB3-0314D15EF8AB}" type="datetimeFigureOut">
              <a:rPr lang="es-DO" smtClean="0"/>
              <a:t>5/7/2026</a:t>
            </a:fld>
            <a:endParaRPr lang="es-D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29C45D-D875-DE1B-B135-76E00355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91DC8F3-C361-4363-22C6-7E8B50F5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B9B46-3CC3-4F85-8133-32CE87C950D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5641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470676A-F36A-78A8-E40D-C7FE9A556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CFD0-986E-4839-9FB3-0314D15EF8AB}" type="datetimeFigureOut">
              <a:rPr lang="es-DO" smtClean="0"/>
              <a:t>5/7/2026</a:t>
            </a:fld>
            <a:endParaRPr lang="es-D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A2E57AB-741E-04CC-302B-EA0B1C578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889E1E-6107-AA78-C70D-54741E376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B9B46-3CC3-4F85-8133-32CE87C950D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24521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938C8-8AC9-F5E6-F610-641D3BD44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ACAF3B-79CA-B6A5-6EF2-CB7865CCB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DB782A7-D178-AD42-544F-AFAE2089C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4E0B58-CCCB-05F9-AA27-56AFDBB8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CFD0-986E-4839-9FB3-0314D15EF8AB}" type="datetimeFigureOut">
              <a:rPr lang="es-DO" smtClean="0"/>
              <a:t>5/7/2026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5B8F13-7DD8-012C-65DF-93162423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252050-2A75-9E90-9D8A-75BA2EF8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B9B46-3CC3-4F85-8133-32CE87C950D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010219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6BF23E-D45E-52C2-C511-99959CC6A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3C08322-A8D1-864A-DDF9-5D63599331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4B6E4C-058E-3469-DD14-62683141E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A04FD9-8286-23FE-305E-78713485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CFD0-986E-4839-9FB3-0314D15EF8AB}" type="datetimeFigureOut">
              <a:rPr lang="es-DO" smtClean="0"/>
              <a:t>5/7/2026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C14BA6-619B-2ACF-5368-C917A9423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43CF4E-040F-5A09-4A3F-404047E9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B9B46-3CC3-4F85-8133-32CE87C950D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48033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458C6-EA10-4B60-F8A7-2425C9EB3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E2B724-DFF8-69EA-5F0B-967F4EBD2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EBD351-4545-30BF-124B-B0415B64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CFD0-986E-4839-9FB3-0314D15EF8AB}" type="datetimeFigureOut">
              <a:rPr lang="es-DO" smtClean="0"/>
              <a:t>5/7/2026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DF1483-CBD3-96FB-0E6C-DE6B0C8F6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F1BECD-EE2B-BD33-F1FB-D41F0D854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B9B46-3CC3-4F85-8133-32CE87C950D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27505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A74234-F4C7-2FD7-4A87-3F73CD8B7A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0E9200C-A089-5FA7-AB24-9D1936555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35D5A9-0B19-5873-DB40-92F83F533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CFD0-986E-4839-9FB3-0314D15EF8AB}" type="datetimeFigureOut">
              <a:rPr lang="es-DO" smtClean="0"/>
              <a:t>5/7/2026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DC823D-2E3B-B3FB-6CE8-1A26B5453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8AFDD4-D3D7-5C2A-DA61-AC3227EA4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B9B46-3CC3-4F85-8133-32CE87C950D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94383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7D7DE0E-A217-445D-6DEB-959E028D8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05B12F-BCD4-43CC-D58B-F747643A4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04B408-FA27-AD1A-8071-59C300FEEE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DCFD0-986E-4839-9FB3-0314D15EF8AB}" type="datetimeFigureOut">
              <a:rPr lang="es-DO" smtClean="0"/>
              <a:t>5/7/2026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129FEE-6EFA-E479-E0A8-2038D927B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61C90F-B7CB-8574-8FDD-9D6560232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B9B46-3CC3-4F85-8133-32CE87C950D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11297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akestoreapi.com/products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2882E64-7D6C-A6E4-1641-5AA494731354}"/>
              </a:ext>
            </a:extLst>
          </p:cNvPr>
          <p:cNvSpPr txBox="1"/>
          <p:nvPr/>
        </p:nvSpPr>
        <p:spPr>
          <a:xfrm>
            <a:off x="565150" y="3212237"/>
            <a:ext cx="704215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DO" sz="2400" dirty="0"/>
              <a:t>Gemini es la familia de modelos de IA multimodales de Google (texto, código, voz, imágenes, video), mientras que </a:t>
            </a:r>
            <a:r>
              <a:rPr lang="es-DO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Antigravity CLI</a:t>
            </a:r>
            <a:r>
              <a:rPr lang="es-DO" sz="2400" dirty="0"/>
              <a:t> es la evolución del antiguo </a:t>
            </a:r>
            <a:r>
              <a:rPr lang="es-DO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Gemini CLI:</a:t>
            </a:r>
            <a:r>
              <a:rPr lang="es-DO" sz="2400" dirty="0"/>
              <a:t> una interfaz de línea de comandos para orquestar agentes, subagentes y flujos de trabajo avanzados directamente desde el terminal. Pudiendo controlar tu pc y una gama de procesos en el mismo.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EFFABA5-29BE-8D7B-5157-523D80218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300" y="628650"/>
            <a:ext cx="2374900" cy="23749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46987E5-62CF-F217-3857-0E4F1B3A98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000" b="22083"/>
          <a:stretch>
            <a:fillRect/>
          </a:stretch>
        </p:blipFill>
        <p:spPr>
          <a:xfrm>
            <a:off x="450850" y="355600"/>
            <a:ext cx="5715000" cy="264795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D25B8DB-FBAE-0A30-9329-9E633CFED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300" y="3745131"/>
            <a:ext cx="238125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96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4C3307C-38A0-99D6-03FA-55A57C618FA3}"/>
              </a:ext>
            </a:extLst>
          </p:cNvPr>
          <p:cNvSpPr txBox="1"/>
          <p:nvPr/>
        </p:nvSpPr>
        <p:spPr>
          <a:xfrm>
            <a:off x="349250" y="493743"/>
            <a:ext cx="110109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DO" b="1" dirty="0"/>
              <a:t>🚀 Antigravity CLI (antes Gemini CLI)</a:t>
            </a:r>
          </a:p>
          <a:p>
            <a:pPr>
              <a:buNone/>
            </a:pPr>
            <a:endParaRPr lang="es-DO" b="1" dirty="0"/>
          </a:p>
          <a:p>
            <a:pPr>
              <a:buNone/>
            </a:pPr>
            <a:r>
              <a:rPr lang="es-DO" dirty="0">
                <a:effectLst/>
              </a:rPr>
              <a:t>Antigravity CLI es la nueva versión del </a:t>
            </a:r>
            <a:r>
              <a:rPr lang="es-DO" b="1" dirty="0">
                <a:effectLst/>
              </a:rPr>
              <a:t>Gemini CLI</a:t>
            </a:r>
            <a:r>
              <a:rPr lang="es-DO" dirty="0">
                <a:effectLst/>
              </a:rPr>
              <a:t>, con mejoras para desarrolladores que trabajan directamente en terminal:</a:t>
            </a:r>
          </a:p>
          <a:p>
            <a:pPr>
              <a:buNone/>
            </a:pPr>
            <a:endParaRPr lang="es-DO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DO" b="1" dirty="0">
                <a:effectLst/>
              </a:rPr>
              <a:t>Subagents</a:t>
            </a:r>
            <a:r>
              <a:rPr lang="es-DO" dirty="0">
                <a:effectLst/>
              </a:rPr>
              <a:t> → Permite múltiples agentes en paralelo para tareas grandes.</a:t>
            </a:r>
            <a:endParaRPr lang="es-DO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DO" b="1" dirty="0">
                <a:effectLst/>
              </a:rPr>
              <a:t>Slash commands</a:t>
            </a:r>
            <a:r>
              <a:rPr lang="es-DO" dirty="0">
                <a:effectLst/>
              </a:rPr>
              <a:t> → Acceso instantáneo a plugins, MCP, configuraciones y permisos.</a:t>
            </a:r>
            <a:endParaRPr lang="es-DO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DO" b="1" dirty="0">
                <a:effectLst/>
              </a:rPr>
              <a:t>Configuración dinámica</a:t>
            </a:r>
            <a:r>
              <a:rPr lang="es-DO" dirty="0">
                <a:effectLst/>
              </a:rPr>
              <a:t> → Personalización de atajos, permisos y temas.</a:t>
            </a:r>
            <a:endParaRPr lang="es-DO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DO" b="1" dirty="0">
                <a:effectLst/>
              </a:rPr>
              <a:t>Gestión de tareas</a:t>
            </a:r>
            <a:r>
              <a:rPr lang="es-DO" dirty="0">
                <a:effectLst/>
              </a:rPr>
              <a:t> → Panel interactivo para monitorear procesos en tiempo real.</a:t>
            </a:r>
            <a:endParaRPr lang="es-DO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DO" b="1" dirty="0">
                <a:effectLst/>
              </a:rPr>
              <a:t>Integración MCP</a:t>
            </a:r>
            <a:r>
              <a:rPr lang="es-DO" dirty="0">
                <a:effectLst/>
              </a:rPr>
              <a:t> → Conexión con servidores locales/remotos para ampliar capacidades.</a:t>
            </a:r>
            <a:endParaRPr lang="es-DO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DO" b="1" dirty="0">
                <a:effectLst/>
              </a:rPr>
              <a:t>Optimización en terminal</a:t>
            </a:r>
            <a:r>
              <a:rPr lang="es-DO" dirty="0">
                <a:effectLst/>
              </a:rPr>
              <a:t> → Flujo rápido, ligero y sin cambiar de contexto.</a:t>
            </a:r>
            <a:endParaRPr lang="es-D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F669162-31F4-000B-CC06-280EC556A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9775" y="1536700"/>
            <a:ext cx="2381250" cy="19812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3F724A9-8B40-9FF1-24D6-2A5052D5B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75" y="3762718"/>
            <a:ext cx="7715250" cy="274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69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E308824-A06E-D00C-2B6D-614F6FFBF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" y="310203"/>
            <a:ext cx="7403912" cy="6237593"/>
          </a:xfrm>
          <a:prstGeom prst="rect">
            <a:avLst/>
          </a:prstGeom>
        </p:spPr>
      </p:pic>
      <p:pic>
        <p:nvPicPr>
          <p:cNvPr id="6" name="Imagen 5" descr="Subagents functionalities">
            <a:extLst>
              <a:ext uri="{FF2B5EF4-FFF2-40B4-BE49-F238E27FC236}">
                <a16:creationId xmlns:a16="http://schemas.microsoft.com/office/drawing/2014/main" id="{74CFDA05-E70C-D316-CDB6-91886755C8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21" t="19419" r="8791" b="18093"/>
          <a:stretch>
            <a:fillRect/>
          </a:stretch>
        </p:blipFill>
        <p:spPr>
          <a:xfrm>
            <a:off x="7549962" y="1650716"/>
            <a:ext cx="4237630" cy="321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5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D67740-8528-2A8A-4240-18816B067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878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86FB28A-FCFF-63DE-E666-5A8520679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79719"/>
            <a:ext cx="10905066" cy="3898561"/>
          </a:xfrm>
          <a:prstGeom prst="rect">
            <a:avLst/>
          </a:prstGeom>
          <a:ln>
            <a:noFill/>
          </a:ln>
        </p:spPr>
      </p:pic>
      <p:sp>
        <p:nvSpPr>
          <p:cNvPr id="9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08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9ABCBD5-F23A-D375-7FAB-5A986DE29759}"/>
              </a:ext>
            </a:extLst>
          </p:cNvPr>
          <p:cNvSpPr txBox="1"/>
          <p:nvPr/>
        </p:nvSpPr>
        <p:spPr>
          <a:xfrm>
            <a:off x="228600" y="316984"/>
            <a:ext cx="11569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DO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⚙️ RETO GEMINI ANTIGRAVITY CLI VS GEMINI Y GOOGLE IA STUDIO🚀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1239B3B-9F19-BA46-AB0E-8E94F2DF94BD}"/>
              </a:ext>
            </a:extLst>
          </p:cNvPr>
          <p:cNvSpPr txBox="1"/>
          <p:nvPr/>
        </p:nvSpPr>
        <p:spPr>
          <a:xfrm>
            <a:off x="355600" y="973594"/>
            <a:ext cx="79883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DO" dirty="0">
                <a:effectLst/>
              </a:rPr>
              <a:t>🔥 El proyecto consiste en una </a:t>
            </a:r>
            <a:r>
              <a:rPr lang="es-DO" b="1" dirty="0">
                <a:effectLst/>
              </a:rPr>
              <a:t>SPA de e-commerce moderna y responsiva</a:t>
            </a:r>
            <a:r>
              <a:rPr lang="es-DO" dirty="0">
                <a:effectLst/>
              </a:rPr>
              <a:t> que consume la API pública </a:t>
            </a:r>
            <a:r>
              <a:rPr lang="es-DO" b="1" dirty="0">
                <a:effectLst/>
                <a:highlight>
                  <a:srgbClr val="00FF00"/>
                </a:highligh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FakeStoreAPI</a:t>
            </a:r>
            <a:r>
              <a:rPr lang="es-DO" dirty="0">
                <a:effectLst/>
              </a:rPr>
              <a:t>. Los productos se mostrarán en </a:t>
            </a:r>
            <a:r>
              <a:rPr lang="es-DO" b="1" dirty="0">
                <a:effectLst/>
              </a:rPr>
              <a:t>cards de Bootstrap</a:t>
            </a:r>
            <a:r>
              <a:rPr lang="es-DO" dirty="0">
                <a:effectLst/>
              </a:rPr>
              <a:t>, cada una con imagen, título, descripción y precio. Desde el frontend en </a:t>
            </a:r>
            <a:r>
              <a:rPr lang="es-DO" b="1" dirty="0">
                <a:effectLst/>
              </a:rPr>
              <a:t>HTML</a:t>
            </a:r>
            <a:r>
              <a:rPr lang="es-DO" dirty="0">
                <a:effectLst/>
              </a:rPr>
              <a:t> y </a:t>
            </a:r>
            <a:r>
              <a:rPr lang="es-DO" b="1" dirty="0">
                <a:effectLst/>
              </a:rPr>
              <a:t>CSS</a:t>
            </a:r>
            <a:r>
              <a:rPr lang="es-DO" dirty="0">
                <a:effectLst/>
              </a:rPr>
              <a:t> se define la estructura y el estilo premium, mientras que </a:t>
            </a:r>
            <a:r>
              <a:rPr lang="es-DO" b="1" dirty="0">
                <a:effectLst/>
              </a:rPr>
              <a:t>Bootstrap</a:t>
            </a:r>
            <a:r>
              <a:rPr lang="es-DO" dirty="0">
                <a:effectLst/>
              </a:rPr>
              <a:t> asegura la adaptabilidad en móviles y desktop.</a:t>
            </a:r>
          </a:p>
          <a:p>
            <a:pPr algn="just"/>
            <a:endParaRPr lang="es-DO" dirty="0"/>
          </a:p>
          <a:p>
            <a:pPr algn="just"/>
            <a:r>
              <a:rPr lang="es-DO" dirty="0">
                <a:effectLst/>
              </a:rPr>
              <a:t>💻 La lógica se implementa con </a:t>
            </a:r>
            <a:r>
              <a:rPr lang="es-DO" b="1" dirty="0">
                <a:effectLst/>
              </a:rPr>
              <a:t>JavaScript</a:t>
            </a:r>
            <a:r>
              <a:rPr lang="es-DO" dirty="0">
                <a:effectLst/>
              </a:rPr>
              <a:t>, que realiza el </a:t>
            </a:r>
            <a:r>
              <a:rPr lang="es-DO" dirty="0"/>
              <a:t>fetch</a:t>
            </a:r>
            <a:r>
              <a:rPr lang="es-DO" dirty="0">
                <a:effectLst/>
              </a:rPr>
              <a:t> a la API para renderizar dinámicamente los productos, gestiona el </a:t>
            </a:r>
            <a:r>
              <a:rPr lang="es-DO" b="1" dirty="0">
                <a:effectLst/>
              </a:rPr>
              <a:t>carrito de compras</a:t>
            </a:r>
            <a:r>
              <a:rPr lang="es-DO" dirty="0">
                <a:effectLst/>
              </a:rPr>
              <a:t>, y controla la interacción con los </a:t>
            </a:r>
            <a:r>
              <a:rPr lang="es-DO" b="1" dirty="0">
                <a:effectLst/>
              </a:rPr>
              <a:t>modals</a:t>
            </a:r>
            <a:r>
              <a:rPr lang="es-DO" dirty="0">
                <a:effectLst/>
              </a:rPr>
              <a:t> que muestran detalles ampliados. Además, se integra una </a:t>
            </a:r>
            <a:r>
              <a:rPr lang="es-DO" b="1" dirty="0">
                <a:effectLst/>
              </a:rPr>
              <a:t>pasarela de pago básica</a:t>
            </a:r>
            <a:r>
              <a:rPr lang="es-DO" dirty="0">
                <a:effectLst/>
              </a:rPr>
              <a:t> con validaciones y se utiliza </a:t>
            </a:r>
            <a:r>
              <a:rPr lang="es-DO" b="1" dirty="0">
                <a:effectLst/>
              </a:rPr>
              <a:t>jsPDF</a:t>
            </a:r>
            <a:r>
              <a:rPr lang="es-DO" dirty="0">
                <a:effectLst/>
              </a:rPr>
              <a:t> para generar el ticket en PDF con los datos de la compra.</a:t>
            </a:r>
          </a:p>
          <a:p>
            <a:pPr algn="just"/>
            <a:endParaRPr lang="es-DO" dirty="0"/>
          </a:p>
          <a:p>
            <a:pPr algn="just"/>
            <a:r>
              <a:rPr lang="es-DO" dirty="0"/>
              <a:t>🌐 Finalmente, Buscamos enfrentar directamente los </a:t>
            </a:r>
            <a:r>
              <a:rPr lang="es-DO" b="1" dirty="0"/>
              <a:t>modelos de Inteligencia Artificial en sus propias plataformas</a:t>
            </a:r>
            <a:r>
              <a:rPr lang="es-DO" dirty="0"/>
              <a:t>, con un </a:t>
            </a:r>
            <a:r>
              <a:rPr lang="es-DO" b="1" dirty="0"/>
              <a:t>prompt elaborado</a:t>
            </a:r>
            <a:r>
              <a:rPr lang="es-DO" dirty="0"/>
              <a:t> que contiene todas las instrucciones necesarias. Cada modelo procesa el mismo escenario y entrega su mejor resultado; nosotros comparamos y determinamos cuál ofrece la respuesta más precisa y eficiente. El entorno no solo muestra productos, sino que aprende, se corrige y optimiza en cada ejecución, convirtiendo los prompts en verdaderos sistemas inteligentes de producción.</a:t>
            </a:r>
            <a:endParaRPr lang="es-DO" dirty="0">
              <a:effectLst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7D7628B-B6AF-2F83-0A63-57CF5307A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581" y="1353024"/>
            <a:ext cx="1473200" cy="14732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765B955-F684-75A7-8165-8148EC43B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0587" y="3638176"/>
            <a:ext cx="2381250" cy="1981200"/>
          </a:xfrm>
          <a:prstGeom prst="rect">
            <a:avLst/>
          </a:prstGeom>
        </p:spPr>
      </p:pic>
      <p:pic>
        <p:nvPicPr>
          <p:cNvPr id="12" name="Imagen 11" descr="File:Google AI Studio icon (May 2026).svg - Wikimedia Commons">
            <a:extLst>
              <a:ext uri="{FF2B5EF4-FFF2-40B4-BE49-F238E27FC236}">
                <a16:creationId xmlns:a16="http://schemas.microsoft.com/office/drawing/2014/main" id="{2FC74002-6FF6-DCA0-92ED-2F80BCF63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1212" y="1211855"/>
            <a:ext cx="1755538" cy="175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6206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397</Words>
  <Application>Microsoft Office PowerPoint</Application>
  <PresentationFormat>Panorámica</PresentationFormat>
  <Paragraphs>17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Juancito Peña Vizcaino</dc:creator>
  <cp:lastModifiedBy>Juancito Peña Vizcaino</cp:lastModifiedBy>
  <cp:revision>1</cp:revision>
  <dcterms:created xsi:type="dcterms:W3CDTF">2026-07-05T18:57:20Z</dcterms:created>
  <dcterms:modified xsi:type="dcterms:W3CDTF">2026-07-05T19:50:51Z</dcterms:modified>
</cp:coreProperties>
</file>